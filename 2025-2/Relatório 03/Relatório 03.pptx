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stoga" charset="1" panose="00000500000000000000"/>
      <p:regular r:id="rId18"/>
    </p:embeddedFont>
    <p:embeddedFont>
      <p:font typeface="Arimo" charset="1" panose="020B0604020202020204"/>
      <p:regular r:id="rId19"/>
    </p:embeddedFont>
    <p:embeddedFont>
      <p:font typeface="Open Sans Bold" charset="1" panose="020B08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18.fntdata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23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font" Target="fonts/font19.fntdata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6481231" y="-95335"/>
            <a:ext cx="15327826" cy="7529795"/>
          </a:xfrm>
          <a:custGeom>
            <a:avLst/>
            <a:gdLst/>
            <a:ahLst/>
            <a:cxnLst/>
            <a:rect r="r" b="b" t="t" l="l"/>
            <a:pathLst>
              <a:path h="7529795" w="15327826">
                <a:moveTo>
                  <a:pt x="0" y="7529794"/>
                </a:moveTo>
                <a:lnTo>
                  <a:pt x="15327826" y="7529794"/>
                </a:lnTo>
                <a:lnTo>
                  <a:pt x="15327826" y="0"/>
                </a:lnTo>
                <a:lnTo>
                  <a:pt x="0" y="0"/>
                </a:lnTo>
                <a:lnTo>
                  <a:pt x="0" y="75297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17992" y="8234188"/>
            <a:ext cx="3830973" cy="3050412"/>
          </a:xfrm>
          <a:custGeom>
            <a:avLst/>
            <a:gdLst/>
            <a:ahLst/>
            <a:cxnLst/>
            <a:rect r="r" b="b" t="t" l="l"/>
            <a:pathLst>
              <a:path h="3050412" w="3830973">
                <a:moveTo>
                  <a:pt x="0" y="0"/>
                </a:moveTo>
                <a:lnTo>
                  <a:pt x="3830973" y="0"/>
                </a:lnTo>
                <a:lnTo>
                  <a:pt x="3830973" y="3050412"/>
                </a:lnTo>
                <a:lnTo>
                  <a:pt x="0" y="3050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41413" y="724936"/>
            <a:ext cx="6296788" cy="5861737"/>
          </a:xfrm>
          <a:custGeom>
            <a:avLst/>
            <a:gdLst/>
            <a:ahLst/>
            <a:cxnLst/>
            <a:rect r="r" b="b" t="t" l="l"/>
            <a:pathLst>
              <a:path h="5861737" w="6296788">
                <a:moveTo>
                  <a:pt x="0" y="0"/>
                </a:moveTo>
                <a:lnTo>
                  <a:pt x="6296788" y="0"/>
                </a:lnTo>
                <a:lnTo>
                  <a:pt x="6296788" y="5861737"/>
                </a:lnTo>
                <a:lnTo>
                  <a:pt x="0" y="5861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48394" y="4202962"/>
            <a:ext cx="12322442" cy="399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2"/>
              </a:lnSpc>
            </a:pPr>
            <a:r>
              <a:rPr lang="en-US" sz="17256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RELATÓRIO 03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365890" y="840082"/>
            <a:ext cx="2352102" cy="2305060"/>
          </a:xfrm>
          <a:custGeom>
            <a:avLst/>
            <a:gdLst/>
            <a:ahLst/>
            <a:cxnLst/>
            <a:rect r="r" b="b" t="t" l="l"/>
            <a:pathLst>
              <a:path h="2305060" w="2352102">
                <a:moveTo>
                  <a:pt x="0" y="0"/>
                </a:moveTo>
                <a:lnTo>
                  <a:pt x="2352102" y="0"/>
                </a:lnTo>
                <a:lnTo>
                  <a:pt x="2352102" y="2305060"/>
                </a:lnTo>
                <a:lnTo>
                  <a:pt x="0" y="23050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6586673"/>
            <a:ext cx="3458073" cy="3775189"/>
          </a:xfrm>
          <a:custGeom>
            <a:avLst/>
            <a:gdLst/>
            <a:ahLst/>
            <a:cxnLst/>
            <a:rect r="r" b="b" t="t" l="l"/>
            <a:pathLst>
              <a:path h="3775189" w="3458073">
                <a:moveTo>
                  <a:pt x="0" y="0"/>
                </a:moveTo>
                <a:lnTo>
                  <a:pt x="3458073" y="0"/>
                </a:lnTo>
                <a:lnTo>
                  <a:pt x="3458073" y="3775189"/>
                </a:lnTo>
                <a:lnTo>
                  <a:pt x="0" y="37751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90901" y="7550644"/>
            <a:ext cx="10714320" cy="92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6"/>
              </a:lnSpc>
            </a:pPr>
            <a:r>
              <a:rPr lang="en-US" sz="52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S01 - Paradigmas da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910039" y="4439159"/>
            <a:ext cx="13495049" cy="6629443"/>
          </a:xfrm>
          <a:custGeom>
            <a:avLst/>
            <a:gdLst/>
            <a:ahLst/>
            <a:cxnLst/>
            <a:rect r="r" b="b" t="t" l="l"/>
            <a:pathLst>
              <a:path h="6629443" w="13495049">
                <a:moveTo>
                  <a:pt x="13495048" y="0"/>
                </a:moveTo>
                <a:lnTo>
                  <a:pt x="0" y="0"/>
                </a:lnTo>
                <a:lnTo>
                  <a:pt x="0" y="6629443"/>
                </a:lnTo>
                <a:lnTo>
                  <a:pt x="13495048" y="6629443"/>
                </a:lnTo>
                <a:lnTo>
                  <a:pt x="13495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9144000" y="-1052398"/>
            <a:ext cx="13495049" cy="6629443"/>
          </a:xfrm>
          <a:custGeom>
            <a:avLst/>
            <a:gdLst/>
            <a:ahLst/>
            <a:cxnLst/>
            <a:rect r="r" b="b" t="t" l="l"/>
            <a:pathLst>
              <a:path h="6629443" w="13495049">
                <a:moveTo>
                  <a:pt x="0" y="6629442"/>
                </a:moveTo>
                <a:lnTo>
                  <a:pt x="13495049" y="6629442"/>
                </a:lnTo>
                <a:lnTo>
                  <a:pt x="13495049" y="0"/>
                </a:lnTo>
                <a:lnTo>
                  <a:pt x="0" y="0"/>
                </a:lnTo>
                <a:lnTo>
                  <a:pt x="0" y="66294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72703" y="-326034"/>
            <a:ext cx="3639881" cy="2898255"/>
          </a:xfrm>
          <a:custGeom>
            <a:avLst/>
            <a:gdLst/>
            <a:ahLst/>
            <a:cxnLst/>
            <a:rect r="r" b="b" t="t" l="l"/>
            <a:pathLst>
              <a:path h="2898255" w="3639881">
                <a:moveTo>
                  <a:pt x="0" y="0"/>
                </a:moveTo>
                <a:lnTo>
                  <a:pt x="3639881" y="0"/>
                </a:lnTo>
                <a:lnTo>
                  <a:pt x="3639881" y="2898256"/>
                </a:lnTo>
                <a:lnTo>
                  <a:pt x="0" y="2898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84985" y="6506451"/>
            <a:ext cx="3281219" cy="2751849"/>
          </a:xfrm>
          <a:custGeom>
            <a:avLst/>
            <a:gdLst/>
            <a:ahLst/>
            <a:cxnLst/>
            <a:rect r="r" b="b" t="t" l="l"/>
            <a:pathLst>
              <a:path h="2751849" w="3281219">
                <a:moveTo>
                  <a:pt x="0" y="0"/>
                </a:moveTo>
                <a:lnTo>
                  <a:pt x="3281218" y="0"/>
                </a:lnTo>
                <a:lnTo>
                  <a:pt x="3281218" y="2751849"/>
                </a:lnTo>
                <a:lnTo>
                  <a:pt x="0" y="2751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40605" y="278390"/>
            <a:ext cx="5406791" cy="5298655"/>
          </a:xfrm>
          <a:custGeom>
            <a:avLst/>
            <a:gdLst/>
            <a:ahLst/>
            <a:cxnLst/>
            <a:rect r="r" b="b" t="t" l="l"/>
            <a:pathLst>
              <a:path h="5298655" w="5406791">
                <a:moveTo>
                  <a:pt x="0" y="0"/>
                </a:moveTo>
                <a:lnTo>
                  <a:pt x="5406790" y="0"/>
                </a:lnTo>
                <a:lnTo>
                  <a:pt x="5406790" y="5298654"/>
                </a:lnTo>
                <a:lnTo>
                  <a:pt x="0" y="5298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54168" y="5647280"/>
            <a:ext cx="3979664" cy="21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38"/>
              </a:lnSpc>
              <a:spcBef>
                <a:spcPct val="0"/>
              </a:spcBef>
            </a:pPr>
            <a:r>
              <a:rPr lang="en-US" sz="12312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RUST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63064" y="7658631"/>
            <a:ext cx="73618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Imperativo e Moderno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3136234" y="-34162"/>
            <a:ext cx="10470229" cy="5143500"/>
          </a:xfrm>
          <a:custGeom>
            <a:avLst/>
            <a:gdLst/>
            <a:ahLst/>
            <a:cxnLst/>
            <a:rect r="r" b="b" t="t" l="l"/>
            <a:pathLst>
              <a:path h="5143500" w="10470229">
                <a:moveTo>
                  <a:pt x="1047022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10470229" y="0"/>
                </a:lnTo>
                <a:lnTo>
                  <a:pt x="10470229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0127" y="7960712"/>
            <a:ext cx="2725174" cy="2037067"/>
          </a:xfrm>
          <a:custGeom>
            <a:avLst/>
            <a:gdLst/>
            <a:ahLst/>
            <a:cxnLst/>
            <a:rect r="r" b="b" t="t" l="l"/>
            <a:pathLst>
              <a:path h="2037067" w="2725174">
                <a:moveTo>
                  <a:pt x="0" y="0"/>
                </a:moveTo>
                <a:lnTo>
                  <a:pt x="2725174" y="0"/>
                </a:lnTo>
                <a:lnTo>
                  <a:pt x="2725174" y="2037068"/>
                </a:lnTo>
                <a:lnTo>
                  <a:pt x="0" y="203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60359" y="4503591"/>
            <a:ext cx="6296788" cy="5861737"/>
          </a:xfrm>
          <a:custGeom>
            <a:avLst/>
            <a:gdLst/>
            <a:ahLst/>
            <a:cxnLst/>
            <a:rect r="r" b="b" t="t" l="l"/>
            <a:pathLst>
              <a:path h="5861737" w="6296788">
                <a:moveTo>
                  <a:pt x="0" y="0"/>
                </a:moveTo>
                <a:lnTo>
                  <a:pt x="6296788" y="0"/>
                </a:lnTo>
                <a:lnTo>
                  <a:pt x="6296788" y="5861737"/>
                </a:lnTo>
                <a:lnTo>
                  <a:pt x="0" y="5861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8623" y="2344962"/>
            <a:ext cx="15635422" cy="148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2"/>
              </a:lnSpc>
            </a:pPr>
            <a:r>
              <a:rPr lang="en-US" sz="12312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O QUE 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7230" y="4155168"/>
            <a:ext cx="12615484" cy="380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Linguagem de programação de sistemas</a:t>
            </a:r>
          </a:p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Desenvolvida pela Mozilla Research</a:t>
            </a:r>
          </a:p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Lançada em 2010(estável em 2015)</a:t>
            </a:r>
          </a:p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Foco em segurança, concorrência e performance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39359" y="0"/>
            <a:ext cx="3639881" cy="2898255"/>
          </a:xfrm>
          <a:custGeom>
            <a:avLst/>
            <a:gdLst/>
            <a:ahLst/>
            <a:cxnLst/>
            <a:rect r="r" b="b" t="t" l="l"/>
            <a:pathLst>
              <a:path h="2898255" w="3639881">
                <a:moveTo>
                  <a:pt x="0" y="0"/>
                </a:moveTo>
                <a:lnTo>
                  <a:pt x="3639882" y="0"/>
                </a:lnTo>
                <a:lnTo>
                  <a:pt x="3639882" y="2898255"/>
                </a:lnTo>
                <a:lnTo>
                  <a:pt x="0" y="28982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1166" y="5349383"/>
            <a:ext cx="10470229" cy="5143500"/>
          </a:xfrm>
          <a:custGeom>
            <a:avLst/>
            <a:gdLst/>
            <a:ahLst/>
            <a:cxnLst/>
            <a:rect r="r" b="b" t="t" l="l"/>
            <a:pathLst>
              <a:path h="5143500" w="10470229">
                <a:moveTo>
                  <a:pt x="0" y="0"/>
                </a:moveTo>
                <a:lnTo>
                  <a:pt x="10470229" y="0"/>
                </a:lnTo>
                <a:lnTo>
                  <a:pt x="1047022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44060" y="-148650"/>
            <a:ext cx="2977827" cy="2225926"/>
          </a:xfrm>
          <a:custGeom>
            <a:avLst/>
            <a:gdLst/>
            <a:ahLst/>
            <a:cxnLst/>
            <a:rect r="r" b="b" t="t" l="l"/>
            <a:pathLst>
              <a:path h="2225926" w="2977827">
                <a:moveTo>
                  <a:pt x="0" y="0"/>
                </a:moveTo>
                <a:lnTo>
                  <a:pt x="2977827" y="0"/>
                </a:lnTo>
                <a:lnTo>
                  <a:pt x="2977827" y="2225926"/>
                </a:lnTo>
                <a:lnTo>
                  <a:pt x="0" y="2225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479" y="451428"/>
            <a:ext cx="3493033" cy="3251696"/>
          </a:xfrm>
          <a:custGeom>
            <a:avLst/>
            <a:gdLst/>
            <a:ahLst/>
            <a:cxnLst/>
            <a:rect r="r" b="b" t="t" l="l"/>
            <a:pathLst>
              <a:path h="3251696" w="3493033">
                <a:moveTo>
                  <a:pt x="0" y="0"/>
                </a:moveTo>
                <a:lnTo>
                  <a:pt x="3493033" y="0"/>
                </a:lnTo>
                <a:lnTo>
                  <a:pt x="3493033" y="3251696"/>
                </a:lnTo>
                <a:lnTo>
                  <a:pt x="0" y="32516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91021" y="4115589"/>
            <a:ext cx="12948544" cy="456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C++: performance e controle baixo nível</a:t>
            </a:r>
          </a:p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Haskell: tipagem forte e conceitos de segurança</a:t>
            </a:r>
          </a:p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Erlang: concorrência e robustez</a:t>
            </a:r>
          </a:p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ML Family: Inferência de tipos</a:t>
            </a:r>
          </a:p>
          <a:p>
            <a:pPr algn="l" marL="928465" indent="-46423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Filosofia: “segurança sem comprometer performance”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21530" y="8245224"/>
            <a:ext cx="3639881" cy="2898255"/>
          </a:xfrm>
          <a:custGeom>
            <a:avLst/>
            <a:gdLst/>
            <a:ahLst/>
            <a:cxnLst/>
            <a:rect r="r" b="b" t="t" l="l"/>
            <a:pathLst>
              <a:path h="2898255" w="3639881">
                <a:moveTo>
                  <a:pt x="0" y="0"/>
                </a:moveTo>
                <a:lnTo>
                  <a:pt x="3639881" y="0"/>
                </a:lnTo>
                <a:lnTo>
                  <a:pt x="3639881" y="2898255"/>
                </a:lnTo>
                <a:lnTo>
                  <a:pt x="0" y="28982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4754449"/>
            <a:ext cx="1827296" cy="1790545"/>
          </a:xfrm>
          <a:custGeom>
            <a:avLst/>
            <a:gdLst/>
            <a:ahLst/>
            <a:cxnLst/>
            <a:rect r="r" b="b" t="t" l="l"/>
            <a:pathLst>
              <a:path h="1790545" w="1827296">
                <a:moveTo>
                  <a:pt x="0" y="0"/>
                </a:moveTo>
                <a:lnTo>
                  <a:pt x="1827296" y="0"/>
                </a:lnTo>
                <a:lnTo>
                  <a:pt x="1827296" y="1790545"/>
                </a:lnTo>
                <a:lnTo>
                  <a:pt x="0" y="17905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1021" y="2458276"/>
            <a:ext cx="10905958" cy="148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2"/>
              </a:lnSpc>
            </a:pPr>
            <a:r>
              <a:rPr lang="en-US" sz="12312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INSPIRAÇÕES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435846" y="6454679"/>
            <a:ext cx="1827296" cy="1790545"/>
          </a:xfrm>
          <a:custGeom>
            <a:avLst/>
            <a:gdLst/>
            <a:ahLst/>
            <a:cxnLst/>
            <a:rect r="r" b="b" t="t" l="l"/>
            <a:pathLst>
              <a:path h="1790545" w="1827296">
                <a:moveTo>
                  <a:pt x="1827296" y="0"/>
                </a:moveTo>
                <a:lnTo>
                  <a:pt x="0" y="0"/>
                </a:lnTo>
                <a:lnTo>
                  <a:pt x="0" y="1790545"/>
                </a:lnTo>
                <a:lnTo>
                  <a:pt x="1827296" y="1790545"/>
                </a:lnTo>
                <a:lnTo>
                  <a:pt x="1827296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9984" y="-420428"/>
            <a:ext cx="3639881" cy="2898255"/>
          </a:xfrm>
          <a:custGeom>
            <a:avLst/>
            <a:gdLst/>
            <a:ahLst/>
            <a:cxnLst/>
            <a:rect r="r" b="b" t="t" l="l"/>
            <a:pathLst>
              <a:path h="2898255" w="3639881">
                <a:moveTo>
                  <a:pt x="0" y="0"/>
                </a:moveTo>
                <a:lnTo>
                  <a:pt x="3639881" y="0"/>
                </a:lnTo>
                <a:lnTo>
                  <a:pt x="3639881" y="2898256"/>
                </a:lnTo>
                <a:lnTo>
                  <a:pt x="0" y="2898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72753" y="5493627"/>
            <a:ext cx="6125538" cy="6031043"/>
          </a:xfrm>
          <a:custGeom>
            <a:avLst/>
            <a:gdLst/>
            <a:ahLst/>
            <a:cxnLst/>
            <a:rect r="r" b="b" t="t" l="l"/>
            <a:pathLst>
              <a:path h="6031043" w="6125538">
                <a:moveTo>
                  <a:pt x="0" y="0"/>
                </a:moveTo>
                <a:lnTo>
                  <a:pt x="6125538" y="0"/>
                </a:lnTo>
                <a:lnTo>
                  <a:pt x="6125538" y="6031043"/>
                </a:lnTo>
                <a:lnTo>
                  <a:pt x="0" y="6031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58842" y="6528610"/>
            <a:ext cx="4513956" cy="4037938"/>
          </a:xfrm>
          <a:custGeom>
            <a:avLst/>
            <a:gdLst/>
            <a:ahLst/>
            <a:cxnLst/>
            <a:rect r="r" b="b" t="t" l="l"/>
            <a:pathLst>
              <a:path h="4037938" w="4513956">
                <a:moveTo>
                  <a:pt x="0" y="0"/>
                </a:moveTo>
                <a:lnTo>
                  <a:pt x="4513955" y="0"/>
                </a:lnTo>
                <a:lnTo>
                  <a:pt x="4513955" y="4037938"/>
                </a:lnTo>
                <a:lnTo>
                  <a:pt x="0" y="40379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49938" y="-731288"/>
            <a:ext cx="2865882" cy="2808564"/>
          </a:xfrm>
          <a:custGeom>
            <a:avLst/>
            <a:gdLst/>
            <a:ahLst/>
            <a:cxnLst/>
            <a:rect r="r" b="b" t="t" l="l"/>
            <a:pathLst>
              <a:path h="2808564" w="2865882">
                <a:moveTo>
                  <a:pt x="0" y="0"/>
                </a:moveTo>
                <a:lnTo>
                  <a:pt x="2865881" y="0"/>
                </a:lnTo>
                <a:lnTo>
                  <a:pt x="2865881" y="2808564"/>
                </a:lnTo>
                <a:lnTo>
                  <a:pt x="0" y="28085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9520" y="1248259"/>
            <a:ext cx="14085163" cy="284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2"/>
              </a:lnSpc>
            </a:pPr>
            <a:r>
              <a:rPr lang="en-US" sz="12312">
                <a:solidFill>
                  <a:srgbClr val="F9B763"/>
                </a:solidFill>
                <a:latin typeface="Calistoga"/>
                <a:ea typeface="Calistoga"/>
                <a:cs typeface="Calistoga"/>
                <a:sym typeface="Calistoga"/>
              </a:rPr>
              <a:t>CARACTERÍSTICAS PRINCIPAIS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5736" y="3993146"/>
            <a:ext cx="475107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4B3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Segurança de Memória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34197" y="4223814"/>
            <a:ext cx="4375785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4B3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Concorrência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4B3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Garantida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41892" y="6895323"/>
            <a:ext cx="428005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4B3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Velocidade e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4B3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48232" y="4223814"/>
            <a:ext cx="559403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4B3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Tipagem Estática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4B3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21620" y="6895323"/>
            <a:ext cx="42375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4B3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Ferramentas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08535" y="5878640"/>
            <a:ext cx="9392860" cy="4614242"/>
          </a:xfrm>
          <a:custGeom>
            <a:avLst/>
            <a:gdLst/>
            <a:ahLst/>
            <a:cxnLst/>
            <a:rect r="r" b="b" t="t" l="l"/>
            <a:pathLst>
              <a:path h="4614242" w="9392860">
                <a:moveTo>
                  <a:pt x="0" y="0"/>
                </a:moveTo>
                <a:lnTo>
                  <a:pt x="9392860" y="0"/>
                </a:lnTo>
                <a:lnTo>
                  <a:pt x="9392860" y="4614243"/>
                </a:lnTo>
                <a:lnTo>
                  <a:pt x="0" y="461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0823" y="944477"/>
            <a:ext cx="2643249" cy="1975829"/>
          </a:xfrm>
          <a:custGeom>
            <a:avLst/>
            <a:gdLst/>
            <a:ahLst/>
            <a:cxnLst/>
            <a:rect r="r" b="b" t="t" l="l"/>
            <a:pathLst>
              <a:path h="1975829" w="2643249">
                <a:moveTo>
                  <a:pt x="0" y="0"/>
                </a:moveTo>
                <a:lnTo>
                  <a:pt x="2643249" y="0"/>
                </a:lnTo>
                <a:lnTo>
                  <a:pt x="2643249" y="1975829"/>
                </a:lnTo>
                <a:lnTo>
                  <a:pt x="0" y="1975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80854" y="1524037"/>
            <a:ext cx="10905958" cy="148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2"/>
              </a:lnSpc>
            </a:pPr>
            <a:r>
              <a:rPr lang="en-US" sz="12312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NO MUNDO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483124" y="7472259"/>
            <a:ext cx="3023648" cy="2814741"/>
          </a:xfrm>
          <a:custGeom>
            <a:avLst/>
            <a:gdLst/>
            <a:ahLst/>
            <a:cxnLst/>
            <a:rect r="r" b="b" t="t" l="l"/>
            <a:pathLst>
              <a:path h="2814741" w="3023648">
                <a:moveTo>
                  <a:pt x="3023648" y="0"/>
                </a:moveTo>
                <a:lnTo>
                  <a:pt x="0" y="0"/>
                </a:lnTo>
                <a:lnTo>
                  <a:pt x="0" y="2814741"/>
                </a:lnTo>
                <a:lnTo>
                  <a:pt x="3023648" y="2814741"/>
                </a:lnTo>
                <a:lnTo>
                  <a:pt x="302364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9543" y="-220152"/>
            <a:ext cx="3136834" cy="2497704"/>
          </a:xfrm>
          <a:custGeom>
            <a:avLst/>
            <a:gdLst/>
            <a:ahLst/>
            <a:cxnLst/>
            <a:rect r="r" b="b" t="t" l="l"/>
            <a:pathLst>
              <a:path h="2497704" w="3136834">
                <a:moveTo>
                  <a:pt x="0" y="0"/>
                </a:moveTo>
                <a:lnTo>
                  <a:pt x="3136834" y="0"/>
                </a:lnTo>
                <a:lnTo>
                  <a:pt x="3136834" y="2497704"/>
                </a:lnTo>
                <a:lnTo>
                  <a:pt x="0" y="249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186893">
            <a:off x="11042494" y="6789491"/>
            <a:ext cx="1866348" cy="2792540"/>
          </a:xfrm>
          <a:custGeom>
            <a:avLst/>
            <a:gdLst/>
            <a:ahLst/>
            <a:cxnLst/>
            <a:rect r="r" b="b" t="t" l="l"/>
            <a:pathLst>
              <a:path h="2792540" w="1866348">
                <a:moveTo>
                  <a:pt x="0" y="0"/>
                </a:moveTo>
                <a:lnTo>
                  <a:pt x="1866348" y="0"/>
                </a:lnTo>
                <a:lnTo>
                  <a:pt x="1866348" y="2792541"/>
                </a:lnTo>
                <a:lnTo>
                  <a:pt x="0" y="2792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177481"/>
            <a:ext cx="6005652" cy="275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sz="8104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01. MOZILLA FIREFOX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6394269">
            <a:off x="3459841" y="6404585"/>
            <a:ext cx="1866348" cy="2792540"/>
          </a:xfrm>
          <a:custGeom>
            <a:avLst/>
            <a:gdLst/>
            <a:ahLst/>
            <a:cxnLst/>
            <a:rect r="r" b="b" t="t" l="l"/>
            <a:pathLst>
              <a:path h="2792540" w="1866348">
                <a:moveTo>
                  <a:pt x="0" y="0"/>
                </a:moveTo>
                <a:lnTo>
                  <a:pt x="1866348" y="0"/>
                </a:lnTo>
                <a:lnTo>
                  <a:pt x="1866348" y="2792541"/>
                </a:lnTo>
                <a:lnTo>
                  <a:pt x="0" y="2792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45090" y="5841029"/>
            <a:ext cx="6005652" cy="186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sz="8104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02. DISCORD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75668" y="3754967"/>
            <a:ext cx="6005652" cy="186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sz="8104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03</a:t>
            </a:r>
            <a:r>
              <a:rPr lang="en-US" sz="8104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. MICROSOFT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08535" y="5878640"/>
            <a:ext cx="9392860" cy="4614242"/>
          </a:xfrm>
          <a:custGeom>
            <a:avLst/>
            <a:gdLst/>
            <a:ahLst/>
            <a:cxnLst/>
            <a:rect r="r" b="b" t="t" l="l"/>
            <a:pathLst>
              <a:path h="4614242" w="9392860">
                <a:moveTo>
                  <a:pt x="0" y="0"/>
                </a:moveTo>
                <a:lnTo>
                  <a:pt x="9392860" y="0"/>
                </a:lnTo>
                <a:lnTo>
                  <a:pt x="9392860" y="4614243"/>
                </a:lnTo>
                <a:lnTo>
                  <a:pt x="0" y="461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0823" y="944477"/>
            <a:ext cx="2643249" cy="1975829"/>
          </a:xfrm>
          <a:custGeom>
            <a:avLst/>
            <a:gdLst/>
            <a:ahLst/>
            <a:cxnLst/>
            <a:rect r="r" b="b" t="t" l="l"/>
            <a:pathLst>
              <a:path h="1975829" w="2643249">
                <a:moveTo>
                  <a:pt x="0" y="0"/>
                </a:moveTo>
                <a:lnTo>
                  <a:pt x="2643249" y="0"/>
                </a:lnTo>
                <a:lnTo>
                  <a:pt x="2643249" y="1975829"/>
                </a:lnTo>
                <a:lnTo>
                  <a:pt x="0" y="1975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91021" y="3913932"/>
            <a:ext cx="10905958" cy="284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2"/>
              </a:lnSpc>
            </a:pPr>
            <a:r>
              <a:rPr lang="en-US" sz="12312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APRENDENDO NA PRÁTICA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483124" y="7472259"/>
            <a:ext cx="3023648" cy="2814741"/>
          </a:xfrm>
          <a:custGeom>
            <a:avLst/>
            <a:gdLst/>
            <a:ahLst/>
            <a:cxnLst/>
            <a:rect r="r" b="b" t="t" l="l"/>
            <a:pathLst>
              <a:path h="2814741" w="3023648">
                <a:moveTo>
                  <a:pt x="3023648" y="0"/>
                </a:moveTo>
                <a:lnTo>
                  <a:pt x="0" y="0"/>
                </a:lnTo>
                <a:lnTo>
                  <a:pt x="0" y="2814741"/>
                </a:lnTo>
                <a:lnTo>
                  <a:pt x="3023648" y="2814741"/>
                </a:lnTo>
                <a:lnTo>
                  <a:pt x="302364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9543" y="-220152"/>
            <a:ext cx="3136834" cy="2497704"/>
          </a:xfrm>
          <a:custGeom>
            <a:avLst/>
            <a:gdLst/>
            <a:ahLst/>
            <a:cxnLst/>
            <a:rect r="r" b="b" t="t" l="l"/>
            <a:pathLst>
              <a:path h="2497704" w="3136834">
                <a:moveTo>
                  <a:pt x="0" y="0"/>
                </a:moveTo>
                <a:lnTo>
                  <a:pt x="3136834" y="0"/>
                </a:lnTo>
                <a:lnTo>
                  <a:pt x="3136834" y="2497704"/>
                </a:lnTo>
                <a:lnTo>
                  <a:pt x="0" y="249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186893">
            <a:off x="11042494" y="6789491"/>
            <a:ext cx="1866348" cy="2792540"/>
          </a:xfrm>
          <a:custGeom>
            <a:avLst/>
            <a:gdLst/>
            <a:ahLst/>
            <a:cxnLst/>
            <a:rect r="r" b="b" t="t" l="l"/>
            <a:pathLst>
              <a:path h="2792540" w="1866348">
                <a:moveTo>
                  <a:pt x="0" y="0"/>
                </a:moveTo>
                <a:lnTo>
                  <a:pt x="1866348" y="0"/>
                </a:lnTo>
                <a:lnTo>
                  <a:pt x="1866348" y="2792541"/>
                </a:lnTo>
                <a:lnTo>
                  <a:pt x="0" y="2792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394269">
            <a:off x="3459841" y="6404585"/>
            <a:ext cx="1866348" cy="2792540"/>
          </a:xfrm>
          <a:custGeom>
            <a:avLst/>
            <a:gdLst/>
            <a:ahLst/>
            <a:cxnLst/>
            <a:rect r="r" b="b" t="t" l="l"/>
            <a:pathLst>
              <a:path h="2792540" w="1866348">
                <a:moveTo>
                  <a:pt x="0" y="0"/>
                </a:moveTo>
                <a:lnTo>
                  <a:pt x="1866348" y="0"/>
                </a:lnTo>
                <a:lnTo>
                  <a:pt x="1866348" y="2792541"/>
                </a:lnTo>
                <a:lnTo>
                  <a:pt x="0" y="2792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1448" y="738925"/>
            <a:ext cx="9982479" cy="143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4"/>
              </a:lnSpc>
            </a:pPr>
            <a:r>
              <a:rPr lang="en-US" sz="11901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EXERCÍCIO 01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0112852" y="-1143547"/>
            <a:ext cx="13495049" cy="6629443"/>
          </a:xfrm>
          <a:custGeom>
            <a:avLst/>
            <a:gdLst/>
            <a:ahLst/>
            <a:cxnLst/>
            <a:rect r="r" b="b" t="t" l="l"/>
            <a:pathLst>
              <a:path h="6629443" w="13495049">
                <a:moveTo>
                  <a:pt x="0" y="6629443"/>
                </a:moveTo>
                <a:lnTo>
                  <a:pt x="13495048" y="6629443"/>
                </a:lnTo>
                <a:lnTo>
                  <a:pt x="13495048" y="0"/>
                </a:lnTo>
                <a:lnTo>
                  <a:pt x="0" y="0"/>
                </a:lnTo>
                <a:lnTo>
                  <a:pt x="0" y="66294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94626">
            <a:off x="15439359" y="9261766"/>
            <a:ext cx="3639881" cy="2898255"/>
          </a:xfrm>
          <a:custGeom>
            <a:avLst/>
            <a:gdLst/>
            <a:ahLst/>
            <a:cxnLst/>
            <a:rect r="r" b="b" t="t" l="l"/>
            <a:pathLst>
              <a:path h="2898255" w="3639881">
                <a:moveTo>
                  <a:pt x="0" y="0"/>
                </a:moveTo>
                <a:lnTo>
                  <a:pt x="3639882" y="0"/>
                </a:lnTo>
                <a:lnTo>
                  <a:pt x="3639882" y="2898256"/>
                </a:lnTo>
                <a:lnTo>
                  <a:pt x="0" y="2898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603577">
            <a:off x="-239057" y="-111374"/>
            <a:ext cx="3281219" cy="2751849"/>
          </a:xfrm>
          <a:custGeom>
            <a:avLst/>
            <a:gdLst/>
            <a:ahLst/>
            <a:cxnLst/>
            <a:rect r="r" b="b" t="t" l="l"/>
            <a:pathLst>
              <a:path h="2751849" w="3281219">
                <a:moveTo>
                  <a:pt x="3281218" y="0"/>
                </a:moveTo>
                <a:lnTo>
                  <a:pt x="0" y="0"/>
                </a:lnTo>
                <a:lnTo>
                  <a:pt x="0" y="2751848"/>
                </a:lnTo>
                <a:lnTo>
                  <a:pt x="3281218" y="2751848"/>
                </a:lnTo>
                <a:lnTo>
                  <a:pt x="328121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2167" y="2085449"/>
            <a:ext cx="16935833" cy="813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rie uma função fn verificar_senha(senha: &amp;str) -&gt; bool.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função deve retornar true se a senha atender a todos os seguintes critérios:</a:t>
            </a:r>
          </a:p>
          <a:p>
            <a:pPr algn="l" marL="1411795" indent="-470598" lvl="2">
              <a:lnSpc>
                <a:spcPts val="4577"/>
              </a:lnSpc>
              <a:buFont typeface="Arial"/>
              <a:buChar char="⚬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Ter pelo menos 8 caracteres de comprimento.</a:t>
            </a:r>
          </a:p>
          <a:p>
            <a:pPr algn="l" marL="1411795" indent="-470598" lvl="2">
              <a:lnSpc>
                <a:spcPts val="4577"/>
              </a:lnSpc>
              <a:buFont typeface="Arial"/>
              <a:buChar char="⚬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Conter pelo menos um número.</a:t>
            </a:r>
          </a:p>
          <a:p>
            <a:pPr algn="l" marL="1411795" indent="-470598" lvl="2">
              <a:lnSpc>
                <a:spcPts val="4577"/>
              </a:lnSpc>
              <a:buFont typeface="Arial"/>
              <a:buChar char="⚬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Conter pelo menos uma letra maiúscula.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main, peça ao usuário para digitar uma senha.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um loop para continuar pedindo a senha até que a função verificar_senha retorne true.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Quando a senha for válida, imprima "Senha válida! Acesso concedido." e saia do loop.</a:t>
            </a:r>
          </a:p>
          <a:p>
            <a:pPr algn="l" marL="705897" indent="-352949" lvl="1">
              <a:lnSpc>
                <a:spcPts val="4577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Dica: Você pode usar loop com break e usar um if para checar as condições. Para verificar o comprimento da string, use senha.len(). Para checar se um caractere é um dígito ou maiúsculo, use os métodos is_digit(10) e is_ascii_uppercase do tipo char (você pode iterar sobre a string com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senha.chars()).</a:t>
            </a:r>
          </a:p>
          <a:p>
            <a:pPr algn="l">
              <a:lnSpc>
                <a:spcPts val="457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1448" y="738925"/>
            <a:ext cx="9982479" cy="143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4"/>
              </a:lnSpc>
            </a:pPr>
            <a:r>
              <a:rPr lang="en-US" sz="11901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EXERCÍCIO 02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0112852" y="-1143547"/>
            <a:ext cx="13495049" cy="6629443"/>
          </a:xfrm>
          <a:custGeom>
            <a:avLst/>
            <a:gdLst/>
            <a:ahLst/>
            <a:cxnLst/>
            <a:rect r="r" b="b" t="t" l="l"/>
            <a:pathLst>
              <a:path h="6629443" w="13495049">
                <a:moveTo>
                  <a:pt x="0" y="6629443"/>
                </a:moveTo>
                <a:lnTo>
                  <a:pt x="13495048" y="6629443"/>
                </a:lnTo>
                <a:lnTo>
                  <a:pt x="13495048" y="0"/>
                </a:lnTo>
                <a:lnTo>
                  <a:pt x="0" y="0"/>
                </a:lnTo>
                <a:lnTo>
                  <a:pt x="0" y="66294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94626">
            <a:off x="15439359" y="9261766"/>
            <a:ext cx="3639881" cy="2898255"/>
          </a:xfrm>
          <a:custGeom>
            <a:avLst/>
            <a:gdLst/>
            <a:ahLst/>
            <a:cxnLst/>
            <a:rect r="r" b="b" t="t" l="l"/>
            <a:pathLst>
              <a:path h="2898255" w="3639881">
                <a:moveTo>
                  <a:pt x="0" y="0"/>
                </a:moveTo>
                <a:lnTo>
                  <a:pt x="3639882" y="0"/>
                </a:lnTo>
                <a:lnTo>
                  <a:pt x="3639882" y="2898256"/>
                </a:lnTo>
                <a:lnTo>
                  <a:pt x="0" y="2898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603577">
            <a:off x="-239057" y="-111374"/>
            <a:ext cx="3281219" cy="2751849"/>
          </a:xfrm>
          <a:custGeom>
            <a:avLst/>
            <a:gdLst/>
            <a:ahLst/>
            <a:cxnLst/>
            <a:rect r="r" b="b" t="t" l="l"/>
            <a:pathLst>
              <a:path h="2751849" w="3281219">
                <a:moveTo>
                  <a:pt x="3281218" y="0"/>
                </a:moveTo>
                <a:lnTo>
                  <a:pt x="0" y="0"/>
                </a:lnTo>
                <a:lnTo>
                  <a:pt x="0" y="2751848"/>
                </a:lnTo>
                <a:lnTo>
                  <a:pt x="3281218" y="2751848"/>
                </a:lnTo>
                <a:lnTo>
                  <a:pt x="328121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6084" y="2149972"/>
            <a:ext cx="16935833" cy="813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rie uma função fn eh_par(numero: i32) -&gt; bool que retorna true se o número fo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 par e false se for ímpar.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main, faça o seguinte:</a:t>
            </a:r>
          </a:p>
          <a:p>
            <a:pPr algn="l" marL="1411795" indent="-470598" lvl="2">
              <a:lnSpc>
                <a:spcPts val="4577"/>
              </a:lnSpc>
              <a:buAutoNum type="alphaL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Peça ao Jogador 1 para escolher "par" ou "ímpar" e, em seguida, digitar um número (i32).</a:t>
            </a:r>
          </a:p>
          <a:p>
            <a:pPr algn="l" marL="1411795" indent="-470598" lvl="2">
              <a:lnSpc>
                <a:spcPts val="4577"/>
              </a:lnSpc>
              <a:buAutoNum type="alphaL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Peça ao Jogador 2 para digitar seu número (i32).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Calcule a som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dos números dos dois jogadores.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a função eh_par para verificar se a soma é par ou ímpar.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uma estrutura if/else para determinar quem venceu.</a:t>
            </a:r>
          </a:p>
          <a:p>
            <a:pPr algn="l" marL="1411795" indent="-470598" lvl="2">
              <a:lnSpc>
                <a:spcPts val="4577"/>
              </a:lnSpc>
              <a:buAutoNum type="alphaL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Jogador 1 vence se a soma corresponder à sua escolha.</a:t>
            </a:r>
          </a:p>
          <a:p>
            <a:pPr algn="l" marL="1411795" indent="-470598" lvl="2">
              <a:lnSpc>
                <a:spcPts val="4577"/>
              </a:lnSpc>
              <a:buAutoNum type="alphaL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Jogador 2 vence se a soma não corresponder à escolha do Jogador 1.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Imprima o resultado do jogo de forma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clara, mostrando a soma dos números e quem foi o vencedor.</a:t>
            </a:r>
          </a:p>
          <a:p>
            <a:pPr algn="l">
              <a:lnSpc>
                <a:spcPts val="457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1448" y="1645550"/>
            <a:ext cx="9982479" cy="143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4"/>
              </a:lnSpc>
            </a:pPr>
            <a:r>
              <a:rPr lang="en-US" sz="11901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EXERCÍCIO 03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0112852" y="-1143547"/>
            <a:ext cx="13495049" cy="6629443"/>
          </a:xfrm>
          <a:custGeom>
            <a:avLst/>
            <a:gdLst/>
            <a:ahLst/>
            <a:cxnLst/>
            <a:rect r="r" b="b" t="t" l="l"/>
            <a:pathLst>
              <a:path h="6629443" w="13495049">
                <a:moveTo>
                  <a:pt x="0" y="6629443"/>
                </a:moveTo>
                <a:lnTo>
                  <a:pt x="13495048" y="6629443"/>
                </a:lnTo>
                <a:lnTo>
                  <a:pt x="13495048" y="0"/>
                </a:lnTo>
                <a:lnTo>
                  <a:pt x="0" y="0"/>
                </a:lnTo>
                <a:lnTo>
                  <a:pt x="0" y="66294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94626">
            <a:off x="15439359" y="9261766"/>
            <a:ext cx="3639881" cy="2898255"/>
          </a:xfrm>
          <a:custGeom>
            <a:avLst/>
            <a:gdLst/>
            <a:ahLst/>
            <a:cxnLst/>
            <a:rect r="r" b="b" t="t" l="l"/>
            <a:pathLst>
              <a:path h="2898255" w="3639881">
                <a:moveTo>
                  <a:pt x="0" y="0"/>
                </a:moveTo>
                <a:lnTo>
                  <a:pt x="3639882" y="0"/>
                </a:lnTo>
                <a:lnTo>
                  <a:pt x="3639882" y="2898256"/>
                </a:lnTo>
                <a:lnTo>
                  <a:pt x="0" y="2898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603577">
            <a:off x="-239057" y="-111374"/>
            <a:ext cx="3281219" cy="2751849"/>
          </a:xfrm>
          <a:custGeom>
            <a:avLst/>
            <a:gdLst/>
            <a:ahLst/>
            <a:cxnLst/>
            <a:rect r="r" b="b" t="t" l="l"/>
            <a:pathLst>
              <a:path h="2751849" w="3281219">
                <a:moveTo>
                  <a:pt x="3281218" y="0"/>
                </a:moveTo>
                <a:lnTo>
                  <a:pt x="0" y="0"/>
                </a:lnTo>
                <a:lnTo>
                  <a:pt x="0" y="2751848"/>
                </a:lnTo>
                <a:lnTo>
                  <a:pt x="3281218" y="2751848"/>
                </a:lnTo>
                <a:lnTo>
                  <a:pt x="328121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992074"/>
            <a:ext cx="16935833" cy="697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rie uma função fn imprimir_tabuada(numero: i32, limite_inferior: i32, limite_superior: i32). Essa função deve receber três números inteiros e não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retornar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nada.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Dentro da função, use um for loop para iterar de limite_inferior até limite_superior (inclusive).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 cada iteração, imprima o resultado da multiplicação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do numero com o contador do loop.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main, peça ao usuário para digitar:</a:t>
            </a:r>
          </a:p>
          <a:p>
            <a:pPr algn="l" marL="1411795" indent="-470598" lvl="2">
              <a:lnSpc>
                <a:spcPts val="4577"/>
              </a:lnSpc>
              <a:buAutoNum type="alphaL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número da tabuada.</a:t>
            </a:r>
          </a:p>
          <a:p>
            <a:pPr algn="l" marL="1411795" indent="-470598" lvl="2">
              <a:lnSpc>
                <a:spcPts val="4577"/>
              </a:lnSpc>
              <a:buAutoNum type="alphaL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limite inferior.</a:t>
            </a:r>
          </a:p>
          <a:p>
            <a:pPr algn="l" marL="1411795" indent="-470598" lvl="2">
              <a:lnSpc>
                <a:spcPts val="4577"/>
              </a:lnSpc>
              <a:buAutoNum type="alphaL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limite superior.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Chame a função imprimir_tabuada com os três números fornecidos pelo usuário.</a:t>
            </a:r>
          </a:p>
          <a:p>
            <a:pPr algn="l">
              <a:lnSpc>
                <a:spcPts val="457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1448" y="1645550"/>
            <a:ext cx="9982479" cy="143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4"/>
              </a:lnSpc>
            </a:pPr>
            <a:r>
              <a:rPr lang="en-US" sz="11901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EXERCÍCIO 04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0112852" y="-1143547"/>
            <a:ext cx="13495049" cy="6629443"/>
          </a:xfrm>
          <a:custGeom>
            <a:avLst/>
            <a:gdLst/>
            <a:ahLst/>
            <a:cxnLst/>
            <a:rect r="r" b="b" t="t" l="l"/>
            <a:pathLst>
              <a:path h="6629443" w="13495049">
                <a:moveTo>
                  <a:pt x="0" y="6629443"/>
                </a:moveTo>
                <a:lnTo>
                  <a:pt x="13495048" y="6629443"/>
                </a:lnTo>
                <a:lnTo>
                  <a:pt x="13495048" y="0"/>
                </a:lnTo>
                <a:lnTo>
                  <a:pt x="0" y="0"/>
                </a:lnTo>
                <a:lnTo>
                  <a:pt x="0" y="66294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94626">
            <a:off x="15439359" y="9261766"/>
            <a:ext cx="3639881" cy="2898255"/>
          </a:xfrm>
          <a:custGeom>
            <a:avLst/>
            <a:gdLst/>
            <a:ahLst/>
            <a:cxnLst/>
            <a:rect r="r" b="b" t="t" l="l"/>
            <a:pathLst>
              <a:path h="2898255" w="3639881">
                <a:moveTo>
                  <a:pt x="0" y="0"/>
                </a:moveTo>
                <a:lnTo>
                  <a:pt x="3639882" y="0"/>
                </a:lnTo>
                <a:lnTo>
                  <a:pt x="3639882" y="2898256"/>
                </a:lnTo>
                <a:lnTo>
                  <a:pt x="0" y="2898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603577">
            <a:off x="-239057" y="-111374"/>
            <a:ext cx="3281219" cy="2751849"/>
          </a:xfrm>
          <a:custGeom>
            <a:avLst/>
            <a:gdLst/>
            <a:ahLst/>
            <a:cxnLst/>
            <a:rect r="r" b="b" t="t" l="l"/>
            <a:pathLst>
              <a:path h="2751849" w="3281219">
                <a:moveTo>
                  <a:pt x="3281218" y="0"/>
                </a:moveTo>
                <a:lnTo>
                  <a:pt x="0" y="0"/>
                </a:lnTo>
                <a:lnTo>
                  <a:pt x="0" y="2751848"/>
                </a:lnTo>
                <a:lnTo>
                  <a:pt x="3281218" y="2751848"/>
                </a:lnTo>
                <a:lnTo>
                  <a:pt x="328121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371173"/>
            <a:ext cx="16935833" cy="523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rie uma função fn calcular_media(nota1: f64, nota2: f64, nota3: f64) -&gt; f64.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função deve calcular a média ponderada usando os pesos: 2 para a nota 1, 3 para a nota 2 e 5 para a nota 3.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main, declare três variáveis para as notas, como nota1 = 7.5, nota2 = 8.0 e nota3 = 9.2.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Chame a função calcular_media com essas notas e imprima o resultado da média.</a:t>
            </a:r>
          </a:p>
          <a:p>
            <a:pPr algn="l" marL="705897" indent="-352949" lvl="1">
              <a:lnSpc>
                <a:spcPts val="4577"/>
              </a:lnSpc>
              <a:buAutoNum type="arabicPeriod" startAt="1"/>
            </a:pPr>
            <a:r>
              <a:rPr lang="en-US" sz="32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um if/else para verificar se a média é maior ou igual a 7 e imprimir se o aluno foi "Aprovado" ou "Reprovado".</a:t>
            </a:r>
          </a:p>
          <a:p>
            <a:pPr algn="l">
              <a:lnSpc>
                <a:spcPts val="457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6688662" y="-274106"/>
            <a:ext cx="15327826" cy="7529795"/>
          </a:xfrm>
          <a:custGeom>
            <a:avLst/>
            <a:gdLst/>
            <a:ahLst/>
            <a:cxnLst/>
            <a:rect r="r" b="b" t="t" l="l"/>
            <a:pathLst>
              <a:path h="7529795" w="15327826">
                <a:moveTo>
                  <a:pt x="0" y="7529795"/>
                </a:moveTo>
                <a:lnTo>
                  <a:pt x="15327826" y="7529795"/>
                </a:lnTo>
                <a:lnTo>
                  <a:pt x="15327826" y="0"/>
                </a:lnTo>
                <a:lnTo>
                  <a:pt x="0" y="0"/>
                </a:lnTo>
                <a:lnTo>
                  <a:pt x="0" y="75297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7935" y="6511811"/>
            <a:ext cx="3449280" cy="2746489"/>
          </a:xfrm>
          <a:custGeom>
            <a:avLst/>
            <a:gdLst/>
            <a:ahLst/>
            <a:cxnLst/>
            <a:rect r="r" b="b" t="t" l="l"/>
            <a:pathLst>
              <a:path h="2746489" w="3449280">
                <a:moveTo>
                  <a:pt x="0" y="0"/>
                </a:moveTo>
                <a:lnTo>
                  <a:pt x="3449280" y="0"/>
                </a:lnTo>
                <a:lnTo>
                  <a:pt x="3449280" y="2746489"/>
                </a:lnTo>
                <a:lnTo>
                  <a:pt x="0" y="2746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4333" y="668896"/>
            <a:ext cx="3899890" cy="3630443"/>
          </a:xfrm>
          <a:custGeom>
            <a:avLst/>
            <a:gdLst/>
            <a:ahLst/>
            <a:cxnLst/>
            <a:rect r="r" b="b" t="t" l="l"/>
            <a:pathLst>
              <a:path h="3630443" w="3899890">
                <a:moveTo>
                  <a:pt x="0" y="0"/>
                </a:moveTo>
                <a:lnTo>
                  <a:pt x="3899890" y="0"/>
                </a:lnTo>
                <a:lnTo>
                  <a:pt x="3899890" y="3630443"/>
                </a:lnTo>
                <a:lnTo>
                  <a:pt x="0" y="3630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54521" y="1695450"/>
            <a:ext cx="13650700" cy="720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85"/>
              </a:lnSpc>
            </a:pPr>
            <a:r>
              <a:rPr lang="en-US" sz="21133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ATÉ SEMANA QUE VEM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76524" y="2838440"/>
            <a:ext cx="2352102" cy="2305060"/>
          </a:xfrm>
          <a:custGeom>
            <a:avLst/>
            <a:gdLst/>
            <a:ahLst/>
            <a:cxnLst/>
            <a:rect r="r" b="b" t="t" l="l"/>
            <a:pathLst>
              <a:path h="2305060" w="2352102">
                <a:moveTo>
                  <a:pt x="0" y="0"/>
                </a:moveTo>
                <a:lnTo>
                  <a:pt x="2352102" y="0"/>
                </a:lnTo>
                <a:lnTo>
                  <a:pt x="2352102" y="2305060"/>
                </a:lnTo>
                <a:lnTo>
                  <a:pt x="0" y="23050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6723758"/>
            <a:ext cx="3017972" cy="3294730"/>
          </a:xfrm>
          <a:custGeom>
            <a:avLst/>
            <a:gdLst/>
            <a:ahLst/>
            <a:cxnLst/>
            <a:rect r="r" b="b" t="t" l="l"/>
            <a:pathLst>
              <a:path h="3294730" w="3017972">
                <a:moveTo>
                  <a:pt x="0" y="0"/>
                </a:moveTo>
                <a:lnTo>
                  <a:pt x="3017972" y="0"/>
                </a:lnTo>
                <a:lnTo>
                  <a:pt x="3017972" y="3294730"/>
                </a:lnTo>
                <a:lnTo>
                  <a:pt x="0" y="3294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9B3818C31D8F47AD28B29A9135AE8A" ma:contentTypeVersion="7" ma:contentTypeDescription="Crie um novo documento." ma:contentTypeScope="" ma:versionID="3dab1e74f34b219e04fe8a4c2f9576cb">
  <xsd:schema xmlns:xsd="http://www.w3.org/2001/XMLSchema" xmlns:xs="http://www.w3.org/2001/XMLSchema" xmlns:p="http://schemas.microsoft.com/office/2006/metadata/properties" xmlns:ns2="e5e511bc-8078-4160-a109-db45ec42a4a1" targetNamespace="http://schemas.microsoft.com/office/2006/metadata/properties" ma:root="true" ma:fieldsID="cf2f35428f39f3b58fcdab34dfa0127c" ns2:_="">
    <xsd:import namespace="e5e511bc-8078-4160-a109-db45ec42a4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511bc-8078-4160-a109-db45ec42a4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F8707F-4FD7-475A-A9C5-D60707DD20DF}"/>
</file>

<file path=customXml/itemProps2.xml><?xml version="1.0" encoding="utf-8"?>
<ds:datastoreItem xmlns:ds="http://schemas.openxmlformats.org/officeDocument/2006/customXml" ds:itemID="{77CD1140-2502-4EFF-ABCA-9197A137AEF3}"/>
</file>

<file path=customXml/itemProps3.xml><?xml version="1.0" encoding="utf-8"?>
<ds:datastoreItem xmlns:ds="http://schemas.openxmlformats.org/officeDocument/2006/customXml" ds:itemID="{F8D1F088-8A0C-4DC2-8C38-BA9E34A032B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03</dc:title>
  <cp:revision>1</cp:revision>
  <dcterms:created xsi:type="dcterms:W3CDTF">2006-08-16T00:00:00Z</dcterms:created>
  <dcterms:modified xsi:type="dcterms:W3CDTF">2011-08-01T06:04:30Z</dcterms:modified>
  <dc:identifier>DAGxTlZASeE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0x010100F49B3818C31D8F47AD28B29A9135AE8A</vt:lpwstr>
  </property>
</Properties>
</file>